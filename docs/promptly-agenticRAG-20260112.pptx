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9" r:id="rId1"/>
  </p:sldMasterIdLst>
  <p:notesMasterIdLst>
    <p:notesMasterId r:id="rId8"/>
  </p:notesMasterIdLst>
  <p:sldIdLst>
    <p:sldId id="256" r:id="rId2"/>
    <p:sldId id="257" r:id="rId3"/>
    <p:sldId id="261" r:id="rId4"/>
    <p:sldId id="263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0"/>
    <p:restoredTop sz="96027"/>
  </p:normalViewPr>
  <p:slideViewPr>
    <p:cSldViewPr snapToGrid="0">
      <p:cViewPr varScale="1">
        <p:scale>
          <a:sx n="108" d="100"/>
          <a:sy n="108" d="100"/>
        </p:scale>
        <p:origin x="13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940E3-CD97-434D-84BD-0475CB29F77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7B8E4-C1CB-4F49-88FD-C29CE31D8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8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Model parametric memory</a:t>
            </a:r>
          </a:p>
          <a:p>
            <a:r>
              <a:rPr lang="en-US" b="1" dirty="0"/>
              <a:t>Pretraining weights:</a:t>
            </a:r>
            <a:r>
              <a:rPr lang="en-US" dirty="0"/>
              <a:t> The model’s baked-in knowledge learned from large corpora; global and fixed until retrained.</a:t>
            </a:r>
          </a:p>
          <a:p>
            <a:r>
              <a:rPr lang="en-US" b="1" dirty="0"/>
              <a:t>Fine-tune adapters:</a:t>
            </a:r>
            <a:r>
              <a:rPr lang="en-US" dirty="0"/>
              <a:t> Lightweight parameter deltas (e.g., </a:t>
            </a:r>
            <a:r>
              <a:rPr lang="en-US" dirty="0" err="1"/>
              <a:t>LoRA</a:t>
            </a:r>
            <a:r>
              <a:rPr lang="en-US" dirty="0"/>
              <a:t>/adapters) or full fine-tunes that add domain style or skills without changing core weights.</a:t>
            </a:r>
          </a:p>
          <a:p>
            <a:r>
              <a:rPr lang="en-US" b="1" dirty="0"/>
              <a:t>Ephemeral session memory</a:t>
            </a:r>
          </a:p>
          <a:p>
            <a:r>
              <a:rPr lang="en-US" b="1" dirty="0"/>
              <a:t>Chat history (recent turns):</a:t>
            </a:r>
            <a:r>
              <a:rPr lang="en-US" dirty="0"/>
              <a:t> The rolling window of prior messages included in the current prompt; disappears as the window overflows or the session ends.</a:t>
            </a:r>
          </a:p>
          <a:p>
            <a:r>
              <a:rPr lang="en-US" b="1" dirty="0"/>
              <a:t>Scratchpad tokens:</a:t>
            </a:r>
            <a:r>
              <a:rPr lang="en-US" dirty="0"/>
              <a:t> Temporary intermediate notes/computations placed in the prompt or tool schema to help the model reason; not persisted.</a:t>
            </a:r>
          </a:p>
          <a:p>
            <a:r>
              <a:rPr lang="en-US" b="1" dirty="0"/>
              <a:t>Tool results (this turn):</a:t>
            </a:r>
            <a:r>
              <a:rPr lang="en-US" dirty="0"/>
              <a:t> Live outputs from tools/APIs retrieved during the request; used immediately unless written elsewhere.</a:t>
            </a:r>
          </a:p>
          <a:p>
            <a:r>
              <a:rPr lang="en-US" b="1" dirty="0"/>
              <a:t>External retrieval (non-parametric)</a:t>
            </a:r>
          </a:p>
          <a:p>
            <a:r>
              <a:rPr lang="en-US" b="1" dirty="0"/>
              <a:t>Vector store (RAG):</a:t>
            </a:r>
            <a:r>
              <a:rPr lang="en-US" dirty="0"/>
              <a:t> Embeds documents and retrieves semantically similar chunks at query time to ground answers and enable citations.</a:t>
            </a:r>
          </a:p>
          <a:p>
            <a:r>
              <a:rPr lang="en-US" b="1" dirty="0"/>
              <a:t>Knowledge graph:</a:t>
            </a:r>
            <a:r>
              <a:rPr lang="en-US" dirty="0"/>
              <a:t> Structured entities/relations that support precise queries, disambiguation, and multi-hop joins across sources.</a:t>
            </a:r>
          </a:p>
          <a:p>
            <a:r>
              <a:rPr lang="en-US" b="1" dirty="0"/>
              <a:t>Databases (SQL or document):</a:t>
            </a:r>
            <a:r>
              <a:rPr lang="en-US" dirty="0"/>
              <a:t> Authoritative records (transactions, configs, logs) fetched on demand to ensure truth and freshness.</a:t>
            </a:r>
          </a:p>
          <a:p>
            <a:r>
              <a:rPr lang="en-US" b="1" dirty="0"/>
              <a:t>Web search &amp; APIs:</a:t>
            </a:r>
            <a:r>
              <a:rPr lang="en-US" dirty="0"/>
              <a:t> On-the-fly access to external knowledge and services for the latest facts or long-tail details.</a:t>
            </a:r>
          </a:p>
          <a:p>
            <a:r>
              <a:rPr lang="en-US" b="1" dirty="0"/>
              <a:t>User persistent memory</a:t>
            </a:r>
          </a:p>
          <a:p>
            <a:r>
              <a:rPr lang="en-US" b="1" dirty="0"/>
              <a:t>Profile &amp; preferences:</a:t>
            </a:r>
            <a:r>
              <a:rPr lang="en-US" dirty="0"/>
              <a:t> Durable per-user facts (role, format preferences, tone) that personalize prompts and outputs across sessions.</a:t>
            </a:r>
          </a:p>
          <a:p>
            <a:r>
              <a:rPr lang="en-US" b="1" dirty="0"/>
              <a:t>Episodic summaries (per user):</a:t>
            </a:r>
            <a:r>
              <a:rPr lang="en-US" dirty="0"/>
              <a:t> Compact summaries of interactions/tasks that keep long-term context while staying within token budgets.</a:t>
            </a:r>
          </a:p>
          <a:p>
            <a:r>
              <a:rPr lang="en-US" b="1" dirty="0"/>
              <a:t>User files &amp; notes:</a:t>
            </a:r>
            <a:r>
              <a:rPr lang="en-US" dirty="0"/>
              <a:t> Uploaded or saved artifacts indexed for retrieval so future answers can reference the user’s own materials.</a:t>
            </a:r>
          </a:p>
          <a:p>
            <a:r>
              <a:rPr lang="en-US" b="1" dirty="0"/>
              <a:t>Infrastructure caches</a:t>
            </a:r>
          </a:p>
          <a:p>
            <a:r>
              <a:rPr lang="en-US" b="1" dirty="0"/>
              <a:t>Prompt cache:</a:t>
            </a:r>
            <a:r>
              <a:rPr lang="en-US" dirty="0"/>
              <a:t> Stores normalized prompts to reuse prior model results and cut latency/cost when identical inputs recur.</a:t>
            </a:r>
          </a:p>
          <a:p>
            <a:r>
              <a:rPr lang="en-US" b="1" dirty="0"/>
              <a:t>Response cache:</a:t>
            </a:r>
            <a:r>
              <a:rPr lang="en-US" dirty="0"/>
              <a:t> Saves final answers keyed by input/context; great for speed, but requires staleness controls for time-sensitive data.</a:t>
            </a:r>
          </a:p>
          <a:p>
            <a:r>
              <a:rPr lang="en-US" b="1" dirty="0"/>
              <a:t>Embedding cache:</a:t>
            </a:r>
            <a:r>
              <a:rPr lang="en-US" dirty="0"/>
              <a:t> Reuses computed vectors for identical text during ingestion and querying to avoid unnecessary </a:t>
            </a:r>
            <a:r>
              <a:rPr lang="en-US" dirty="0" err="1"/>
              <a:t>recomputation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7B8E4-C1CB-4F49-88FD-C29CE31D89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11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5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64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1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89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6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490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56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04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07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439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691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61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12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92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48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227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253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1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16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21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171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6068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960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63915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0768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838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170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89739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6323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769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669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611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3699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081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698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458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035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685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4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42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381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020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4384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6638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519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629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514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876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496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5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58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50" r:id="rId23"/>
    <p:sldLayoutId id="2147483851" r:id="rId24"/>
    <p:sldLayoutId id="2147483852" r:id="rId25"/>
    <p:sldLayoutId id="2147483853" r:id="rId26"/>
    <p:sldLayoutId id="2147483854" r:id="rId27"/>
    <p:sldLayoutId id="2147483855" r:id="rId28"/>
    <p:sldLayoutId id="2147483856" r:id="rId29"/>
    <p:sldLayoutId id="2147483857" r:id="rId30"/>
    <p:sldLayoutId id="2147483858" r:id="rId31"/>
    <p:sldLayoutId id="2147483859" r:id="rId32"/>
    <p:sldLayoutId id="2147483860" r:id="rId33"/>
    <p:sldLayoutId id="2147483861" r:id="rId34"/>
    <p:sldLayoutId id="2147483862" r:id="rId35"/>
    <p:sldLayoutId id="2147483863" r:id="rId36"/>
    <p:sldLayoutId id="2147483864" r:id="rId37"/>
    <p:sldLayoutId id="2147483865" r:id="rId38"/>
    <p:sldLayoutId id="2147483878" r:id="rId39"/>
    <p:sldLayoutId id="2147483866" r:id="rId40"/>
    <p:sldLayoutId id="2147483867" r:id="rId41"/>
    <p:sldLayoutId id="2147483868" r:id="rId42"/>
    <p:sldLayoutId id="2147483869" r:id="rId43"/>
    <p:sldLayoutId id="2147483870" r:id="rId44"/>
    <p:sldLayoutId id="2147483871" r:id="rId45"/>
    <p:sldLayoutId id="2147483872" r:id="rId46"/>
    <p:sldLayoutId id="2147483873" r:id="rId47"/>
    <p:sldLayoutId id="2147483874" r:id="rId48"/>
    <p:sldLayoutId id="2147483875" r:id="rId49"/>
    <p:sldLayoutId id="2147483876" r:id="rId50"/>
    <p:sldLayoutId id="2147483877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E7BD-FF0E-5E13-9CBC-215E1E7A2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015" y="1362577"/>
            <a:ext cx="5483352" cy="1424734"/>
          </a:xfrm>
        </p:spPr>
        <p:txBody>
          <a:bodyPr anchor="t">
            <a:normAutofit/>
          </a:bodyPr>
          <a:lstStyle/>
          <a:p>
            <a:r>
              <a:rPr lang="en-US" dirty="0"/>
              <a:t>Making Memories</a:t>
            </a:r>
            <a:br>
              <a:rPr lang="en-US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0A163-192E-6865-04CB-35E6B35F8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50" y="4070690"/>
            <a:ext cx="6741881" cy="1591056"/>
          </a:xfrm>
        </p:spPr>
        <p:txBody>
          <a:bodyPr anchor="ctr">
            <a:normAutofit/>
          </a:bodyPr>
          <a:lstStyle/>
          <a:p>
            <a:r>
              <a:rPr lang="en-US" sz="2800" dirty="0"/>
              <a:t>From General Models to Intelligent Context</a:t>
            </a:r>
          </a:p>
          <a:p>
            <a:r>
              <a:rPr lang="en-US" dirty="0"/>
              <a:t>Promptly At 9 – 2026.01.12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0D4987D-9ED8-17DF-831D-72763064D2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887" b="887"/>
          <a:stretch>
            <a:fillRect/>
          </a:stretch>
        </p:blipFill>
        <p:spPr>
          <a:xfrm>
            <a:off x="7534275" y="0"/>
            <a:ext cx="4654550" cy="6858000"/>
          </a:xfrm>
        </p:spPr>
      </p:pic>
    </p:spTree>
    <p:extLst>
      <p:ext uri="{BB962C8B-B14F-4D97-AF65-F5344CB8AC3E}">
        <p14:creationId xmlns:p14="http://schemas.microsoft.com/office/powerpoint/2010/main" val="294573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73BF-D213-52B4-22FA-62B4B8C1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10060"/>
            <a:ext cx="10954512" cy="795528"/>
          </a:xfrm>
        </p:spPr>
        <p:txBody>
          <a:bodyPr/>
          <a:lstStyle/>
          <a:p>
            <a:r>
              <a:rPr lang="en-US" dirty="0"/>
              <a:t>GenAI – “Memory” Classifications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28F76B-0E52-FCDB-42FA-FCE5CBA30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2775" y="1813433"/>
            <a:ext cx="10953750" cy="4053458"/>
          </a:xfrm>
        </p:spPr>
      </p:pic>
    </p:spTree>
    <p:extLst>
      <p:ext uri="{BB962C8B-B14F-4D97-AF65-F5344CB8AC3E}">
        <p14:creationId xmlns:p14="http://schemas.microsoft.com/office/powerpoint/2010/main" val="291312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25A2-EAA6-F5F3-40C5-DA275FC6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9BD60A0-A84F-EE26-9DBE-20D4F7C10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66" y="2007704"/>
            <a:ext cx="7435140" cy="45864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A94976-6988-84FF-1393-397D92B6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71" y="122684"/>
            <a:ext cx="6584313" cy="53292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Demonstration App - Pet Care Coach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3020E-5C5A-6E23-7442-A4B9727C97DA}"/>
              </a:ext>
            </a:extLst>
          </p:cNvPr>
          <p:cNvSpPr txBox="1"/>
          <p:nvPr/>
        </p:nvSpPr>
        <p:spPr>
          <a:xfrm>
            <a:off x="138195" y="887365"/>
            <a:ext cx="63229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One app, one question — three AI behaviors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Prompt-only vs. RAG vs. Agent-driven reasoning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Shows how added context changes answer quality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Moves from “guessing” to “grounded advice”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Demonstrates why context design matters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88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DA9F-7B71-E3D0-CA97-9BDEECFA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9746-6399-7971-CBDE-BC98DCEA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71" y="122684"/>
            <a:ext cx="6584313" cy="53292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Early Days – General LLM Models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7E68C-3117-485F-3EA2-53897E9994D3}"/>
              </a:ext>
            </a:extLst>
          </p:cNvPr>
          <p:cNvSpPr txBox="1"/>
          <p:nvPr/>
        </p:nvSpPr>
        <p:spPr>
          <a:xfrm>
            <a:off x="293470" y="913244"/>
            <a:ext cx="107747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Context comes only from what the user types in this session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Fast and simple, but can sound confident without being grounded (hallucinates)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No access to clinic-specific facts, visit history, or diagnostics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DB37B-149B-04E5-742F-2457C17D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65" y="3148642"/>
            <a:ext cx="9944470" cy="33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0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44B6-977B-161B-BA9F-A12A7FCB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71" y="122684"/>
            <a:ext cx="11403948" cy="53292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LLM Models Plus Retrieval Augmented Generation (RAG)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6F45EF0-E2B0-2EAF-5D03-4D710C1E7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41" y="2935704"/>
            <a:ext cx="11653517" cy="3250677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857DDD-E7FE-2DD5-F3F6-8B7E31080F5E}"/>
              </a:ext>
            </a:extLst>
          </p:cNvPr>
          <p:cNvSpPr txBox="1"/>
          <p:nvPr/>
        </p:nvSpPr>
        <p:spPr>
          <a:xfrm>
            <a:off x="293471" y="942741"/>
            <a:ext cx="902683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Adds “after the visit” memory via the transcript stored as searchable chunks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Improves accuracy and recall of what was said in the exam room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Still limited when answers require structured facts or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35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2FEC4-44C4-3DC9-7550-31D97A9C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A7B2-EA1B-5827-0F78-05691B25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71" y="122684"/>
            <a:ext cx="11403948" cy="53292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“Agentic RAG” – LLM plus Docs plus Live Data plus Orchestration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C2A11-5484-B76C-08E0-AF93C397BD6C}"/>
              </a:ext>
            </a:extLst>
          </p:cNvPr>
          <p:cNvSpPr txBox="1"/>
          <p:nvPr/>
        </p:nvSpPr>
        <p:spPr>
          <a:xfrm>
            <a:off x="293471" y="942741"/>
            <a:ext cx="94868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Uses a controller that can choose tools and loop for better evidence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Combines unstructured memory and structured diagnostics for decision support</a:t>
            </a:r>
          </a:p>
          <a:p>
            <a:pPr marL="342900" lvl="0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</a:rPr>
              <a:t>Produces more trustworthy outputs by showing sources and data used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B95A6-E361-0526-21BB-25F3C7413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88" y="2413794"/>
            <a:ext cx="11586114" cy="410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09239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1508</TotalTime>
  <Words>550</Words>
  <Application>Microsoft Macintosh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Light</vt:lpstr>
      <vt:lpstr>Arial</vt:lpstr>
      <vt:lpstr>Wingdings</vt:lpstr>
      <vt:lpstr>Chroma</vt:lpstr>
      <vt:lpstr>Making Memories </vt:lpstr>
      <vt:lpstr>GenAI – “Memory” Classifications</vt:lpstr>
      <vt:lpstr>Demonstration App - Pet Care Coach</vt:lpstr>
      <vt:lpstr>Early Days – General LLM Models</vt:lpstr>
      <vt:lpstr>LLM Models Plus Retrieval Augmented Generation (RAG)</vt:lpstr>
      <vt:lpstr>“Agentic RAG” – LLM plus Docs plus Live Data plus Orchestration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Tompkins, Terry</dc:creator>
  <cp:lastModifiedBy>Tompkins, Terry</cp:lastModifiedBy>
  <cp:revision>3</cp:revision>
  <dcterms:created xsi:type="dcterms:W3CDTF">2025-09-05T17:34:38Z</dcterms:created>
  <dcterms:modified xsi:type="dcterms:W3CDTF">2026-01-12T17:24:49Z</dcterms:modified>
</cp:coreProperties>
</file>